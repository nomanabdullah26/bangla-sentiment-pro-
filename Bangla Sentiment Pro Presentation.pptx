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media/image2.jpg" ContentType="image/jpg"/>
  <Override PartName="/ppt/media/image4.jpg" ContentType="image/jpg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</p:sldIdLst>
  <p:sldSz cx="20104100" cy="11309350"/>
  <p:notesSz cx="20104100" cy="113093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466A"/>
    <a:srgbClr val="39476B"/>
    <a:srgbClr val="354365"/>
    <a:srgbClr val="3B4A71"/>
    <a:srgbClr val="3A496E"/>
    <a:srgbClr val="42537D"/>
    <a:srgbClr val="3C4B70"/>
    <a:srgbClr val="3D4C73"/>
    <a:srgbClr val="455783"/>
    <a:srgbClr val="3E4E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2" autoAdjust="0"/>
    <p:restoredTop sz="94660"/>
  </p:normalViewPr>
  <p:slideViewPr>
    <p:cSldViewPr>
      <p:cViewPr varScale="1">
        <p:scale>
          <a:sx n="36" d="100"/>
          <a:sy n="36" d="100"/>
        </p:scale>
        <p:origin x="16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36891-B2D4-473F-97E4-AA51CDF9861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10991-B50E-418D-A729-94EBF32D7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134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10991-B50E-418D-A729-94EBF32D70D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11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86818" y="1323050"/>
            <a:ext cx="14242173" cy="4191008"/>
          </a:xfrm>
        </p:spPr>
        <p:txBody>
          <a:bodyPr bIns="0" anchor="b">
            <a:normAutofit/>
          </a:bodyPr>
          <a:lstStyle>
            <a:lvl1pPr algn="l">
              <a:defRPr sz="108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86818" y="5823218"/>
            <a:ext cx="14242172" cy="1612169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968" b="0" cap="all" baseline="0">
                <a:solidFill>
                  <a:schemeClr val="tx1"/>
                </a:solidFill>
              </a:defRPr>
            </a:lvl1pPr>
            <a:lvl2pPr marL="753923" indent="0" algn="ctr">
              <a:buNone/>
              <a:defRPr sz="2968"/>
            </a:lvl2pPr>
            <a:lvl3pPr marL="1507846" indent="0" algn="ctr">
              <a:buNone/>
              <a:defRPr sz="2968"/>
            </a:lvl3pPr>
            <a:lvl4pPr marL="2261768" indent="0" algn="ctr">
              <a:buNone/>
              <a:defRPr sz="2638"/>
            </a:lvl4pPr>
            <a:lvl5pPr marL="3015691" indent="0" algn="ctr">
              <a:buNone/>
              <a:defRPr sz="2638"/>
            </a:lvl5pPr>
            <a:lvl6pPr marL="3769614" indent="0" algn="ctr">
              <a:buNone/>
              <a:defRPr sz="2638"/>
            </a:lvl6pPr>
            <a:lvl7pPr marL="4523537" indent="0" algn="ctr">
              <a:buNone/>
              <a:defRPr sz="2638"/>
            </a:lvl7pPr>
            <a:lvl8pPr marL="5277460" indent="0" algn="ctr">
              <a:buNone/>
              <a:defRPr sz="2638"/>
            </a:lvl8pPr>
            <a:lvl9pPr marL="6031382" indent="0" algn="ctr">
              <a:buNone/>
              <a:defRPr sz="263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84708" y="543053"/>
            <a:ext cx="8201779" cy="50989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70649" y="1317566"/>
            <a:ext cx="1337337" cy="830437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3986818" y="5818827"/>
            <a:ext cx="142421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177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2397414" y="3045985"/>
            <a:ext cx="1584240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40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7979" y="2895989"/>
            <a:ext cx="14252201" cy="3113369"/>
          </a:xfrm>
        </p:spPr>
        <p:txBody>
          <a:bodyPr anchor="b">
            <a:normAutofit/>
          </a:bodyPr>
          <a:lstStyle>
            <a:lvl1pPr algn="l">
              <a:defRPr sz="59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7979" y="6276698"/>
            <a:ext cx="14231246" cy="1670395"/>
          </a:xfrm>
        </p:spPr>
        <p:txBody>
          <a:bodyPr tIns="91440">
            <a:normAutofit/>
          </a:bodyPr>
          <a:lstStyle>
            <a:lvl1pPr marL="0" indent="0" algn="l">
              <a:buNone/>
              <a:defRPr sz="2968">
                <a:solidFill>
                  <a:schemeClr val="tx1"/>
                </a:solidFill>
              </a:defRPr>
            </a:lvl1pPr>
            <a:lvl2pPr marL="753923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7979" y="6274702"/>
            <a:ext cx="142312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1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99" y="1327323"/>
            <a:ext cx="15839292" cy="1746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86589" y="3316087"/>
            <a:ext cx="7659662" cy="56869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76041" y="3326748"/>
            <a:ext cx="7659662" cy="56753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2397414" y="3045985"/>
            <a:ext cx="1584240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964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6358" y="1326125"/>
            <a:ext cx="15842633" cy="17419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6358" y="3330387"/>
            <a:ext cx="7659662" cy="132246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628" b="0" cap="all" baseline="0">
                <a:solidFill>
                  <a:schemeClr val="accent1"/>
                </a:solidFill>
              </a:defRPr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86358" y="4657430"/>
            <a:ext cx="7659662" cy="43609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573718" y="3336083"/>
            <a:ext cx="7659662" cy="132294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628" b="0" cap="all" baseline="0">
                <a:solidFill>
                  <a:schemeClr val="accent1"/>
                </a:solidFill>
              </a:defRPr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573718" y="4652849"/>
            <a:ext cx="7659662" cy="4349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2397414" y="3045985"/>
            <a:ext cx="1584240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561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2397414" y="3045985"/>
            <a:ext cx="1584240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0789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847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2203" y="1317567"/>
            <a:ext cx="5397204" cy="3705662"/>
          </a:xfrm>
        </p:spPr>
        <p:txBody>
          <a:bodyPr anchor="b">
            <a:normAutofit/>
          </a:bodyPr>
          <a:lstStyle>
            <a:lvl1pPr algn="l">
              <a:defRPr sz="39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6874" y="1317567"/>
            <a:ext cx="9914313" cy="7682749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2203" y="5286093"/>
            <a:ext cx="5400360" cy="3707417"/>
          </a:xfrm>
        </p:spPr>
        <p:txBody>
          <a:bodyPr/>
          <a:lstStyle>
            <a:lvl1pPr marL="0" indent="0" algn="l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2388153" y="5286092"/>
            <a:ext cx="539125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377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2329901" y="795135"/>
            <a:ext cx="6718735" cy="8491249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2978" y="1862650"/>
            <a:ext cx="9122578" cy="3018769"/>
          </a:xfrm>
        </p:spPr>
        <p:txBody>
          <a:bodyPr anchor="b">
            <a:normAutofit/>
          </a:bodyPr>
          <a:lstStyle>
            <a:lvl1pPr>
              <a:defRPr sz="52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396780" y="1851156"/>
            <a:ext cx="4602525" cy="6375860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5277"/>
            </a:lvl1pPr>
            <a:lvl2pPr marL="753923" indent="0">
              <a:buNone/>
              <a:defRPr sz="4617"/>
            </a:lvl2pPr>
            <a:lvl3pPr marL="1507846" indent="0">
              <a:buNone/>
              <a:defRPr sz="3958"/>
            </a:lvl3pPr>
            <a:lvl4pPr marL="2261768" indent="0">
              <a:buNone/>
              <a:defRPr sz="3298"/>
            </a:lvl4pPr>
            <a:lvl5pPr marL="3015691" indent="0">
              <a:buNone/>
              <a:defRPr sz="3298"/>
            </a:lvl5pPr>
            <a:lvl6pPr marL="3769614" indent="0">
              <a:buNone/>
              <a:defRPr sz="3298"/>
            </a:lvl6pPr>
            <a:lvl7pPr marL="4523537" indent="0">
              <a:buNone/>
              <a:defRPr sz="3298"/>
            </a:lvl7pPr>
            <a:lvl8pPr marL="5277460" indent="0">
              <a:buNone/>
              <a:defRPr sz="3298"/>
            </a:lvl8pPr>
            <a:lvl9pPr marL="6031382" indent="0">
              <a:buNone/>
              <a:defRPr sz="329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1532" y="5187974"/>
            <a:ext cx="9109512" cy="3304319"/>
          </a:xfrm>
        </p:spPr>
        <p:txBody>
          <a:bodyPr>
            <a:normAutofit/>
          </a:bodyPr>
          <a:lstStyle>
            <a:lvl1pPr marL="0" indent="0" algn="l">
              <a:buNone/>
              <a:defRPr sz="296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386674" y="9020198"/>
            <a:ext cx="9114371" cy="527907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86672" y="525462"/>
            <a:ext cx="9136885" cy="529239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2386674" y="5184038"/>
            <a:ext cx="91143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260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2397414" y="3045985"/>
            <a:ext cx="1584240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175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64701" y="1317567"/>
            <a:ext cx="2664291" cy="7684502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82204" y="1317567"/>
            <a:ext cx="12909414" cy="76845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5564701" y="1317567"/>
            <a:ext cx="0" cy="7684502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662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rgbClr val="002D5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3700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5">
                <a:lumMod val="50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330266"/>
            <a:ext cx="20104100" cy="677100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10103019"/>
            <a:ext cx="20104100" cy="122518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93594" y="1326712"/>
            <a:ext cx="15835400" cy="17302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3594" y="3324092"/>
            <a:ext cx="15835400" cy="5690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456460" y="544806"/>
            <a:ext cx="5772533" cy="509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93593" y="543053"/>
            <a:ext cx="9792893" cy="509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600" y="1317566"/>
            <a:ext cx="1337337" cy="83043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4617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10106207"/>
            <a:ext cx="201041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126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1507846" rtl="0" eaLnBrk="1" latinLnBrk="0" hangingPunct="1">
        <a:lnSpc>
          <a:spcPct val="90000"/>
        </a:lnSpc>
        <a:spcBef>
          <a:spcPct val="0"/>
        </a:spcBef>
        <a:buNone/>
        <a:defRPr sz="5277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76961" indent="-376961" algn="l" defTabSz="1507846" rtl="0" eaLnBrk="1" latinLnBrk="0" hangingPunct="1">
        <a:lnSpc>
          <a:spcPct val="120000"/>
        </a:lnSpc>
        <a:spcBef>
          <a:spcPts val="1649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298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130884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968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884807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638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638730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309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3392653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79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4146575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79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900498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79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5654421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79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6408344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79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923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846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768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691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614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537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46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382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ngall.com/question-mark-png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28050" y="1413569"/>
            <a:ext cx="2686267" cy="2254686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95151" y="4322766"/>
            <a:ext cx="9220200" cy="94000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Bangla</a:t>
            </a:r>
            <a:r>
              <a:rPr sz="6000" spc="-215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6000" spc="-215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6000" spc="204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Sentiment</a:t>
            </a:r>
            <a:r>
              <a:rPr sz="6000" spc="395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6000" spc="-25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</a:t>
            </a:r>
            <a:endParaRPr sz="6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18117" y="5917278"/>
            <a:ext cx="1539240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600" b="0" i="0" dirty="0">
                <a:solidFill>
                  <a:schemeClr val="bg1"/>
                </a:solidFill>
                <a:effectLst/>
                <a:latin typeface="Inter"/>
              </a:rPr>
              <a:t>A Dual-Head Deep Learning System for Sentiment &amp; Emotion Classification</a:t>
            </a:r>
            <a:endParaRPr sz="3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7268" y="8474075"/>
            <a:ext cx="8492032" cy="20435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46990" algn="ctr">
              <a:lnSpc>
                <a:spcPct val="100000"/>
              </a:lnSpc>
              <a:spcBef>
                <a:spcPts val="95"/>
              </a:spcBef>
            </a:pPr>
            <a:r>
              <a:rPr sz="2450" b="1" spc="240" dirty="0">
                <a:solidFill>
                  <a:schemeClr val="bg1"/>
                </a:solidFill>
                <a:latin typeface="Calibri"/>
                <a:cs typeface="Calibri"/>
              </a:rPr>
              <a:t>Presented</a:t>
            </a:r>
            <a:r>
              <a:rPr sz="2450" b="1" spc="14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50" b="1" spc="195" dirty="0">
                <a:solidFill>
                  <a:schemeClr val="bg1"/>
                </a:solidFill>
                <a:latin typeface="Calibri"/>
                <a:cs typeface="Calibri"/>
              </a:rPr>
              <a:t>By:</a:t>
            </a:r>
            <a:endParaRPr sz="245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 marR="85090" algn="ctr">
              <a:lnSpc>
                <a:spcPct val="100000"/>
              </a:lnSpc>
              <a:spcBef>
                <a:spcPts val="25"/>
              </a:spcBef>
            </a:pPr>
            <a:r>
              <a:rPr sz="2700" dirty="0">
                <a:solidFill>
                  <a:schemeClr val="bg1"/>
                </a:solidFill>
                <a:latin typeface="Calibri"/>
                <a:cs typeface="Calibri"/>
              </a:rPr>
              <a:t>Mst</a:t>
            </a:r>
            <a:r>
              <a:rPr sz="2700" spc="15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chemeClr val="bg1"/>
                </a:solidFill>
                <a:latin typeface="Calibri"/>
                <a:cs typeface="Calibri"/>
              </a:rPr>
              <a:t>Afrin</a:t>
            </a:r>
            <a:r>
              <a:rPr sz="2700" spc="-5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chemeClr val="bg1"/>
                </a:solidFill>
                <a:latin typeface="Calibri"/>
                <a:cs typeface="Calibri"/>
              </a:rPr>
              <a:t>Binte</a:t>
            </a:r>
            <a:r>
              <a:rPr sz="2700" spc="6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chemeClr val="bg1"/>
                </a:solidFill>
                <a:latin typeface="Calibri"/>
                <a:cs typeface="Calibri"/>
              </a:rPr>
              <a:t>Amin</a:t>
            </a:r>
            <a:r>
              <a:rPr sz="2700" spc="-7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700" spc="-250" dirty="0">
                <a:solidFill>
                  <a:schemeClr val="bg1"/>
                </a:solidFill>
                <a:latin typeface="Calibri"/>
                <a:cs typeface="Calibri"/>
              </a:rPr>
              <a:t>(22—</a:t>
            </a:r>
            <a:r>
              <a:rPr sz="2700" spc="-254" dirty="0">
                <a:solidFill>
                  <a:schemeClr val="bg1"/>
                </a:solidFill>
                <a:latin typeface="Calibri"/>
                <a:cs typeface="Calibri"/>
              </a:rPr>
              <a:t>47146—</a:t>
            </a:r>
            <a:r>
              <a:rPr sz="2700" spc="-25" dirty="0">
                <a:solidFill>
                  <a:schemeClr val="bg1"/>
                </a:solidFill>
                <a:latin typeface="Calibri"/>
                <a:cs typeface="Calibri"/>
              </a:rPr>
              <a:t>1)</a:t>
            </a:r>
            <a:endParaRPr sz="27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R="92075" algn="ctr">
              <a:lnSpc>
                <a:spcPct val="100000"/>
              </a:lnSpc>
              <a:spcBef>
                <a:spcPts val="125"/>
              </a:spcBef>
            </a:pPr>
            <a:r>
              <a:rPr sz="2550" spc="85" dirty="0">
                <a:solidFill>
                  <a:schemeClr val="bg1"/>
                </a:solidFill>
                <a:latin typeface="Calibri"/>
                <a:cs typeface="Calibri"/>
              </a:rPr>
              <a:t>Md</a:t>
            </a:r>
            <a:r>
              <a:rPr sz="2550" spc="19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550" spc="60" dirty="0">
                <a:solidFill>
                  <a:schemeClr val="bg1"/>
                </a:solidFill>
                <a:latin typeface="Calibri"/>
                <a:cs typeface="Calibri"/>
              </a:rPr>
              <a:t>Abdullah</a:t>
            </a:r>
            <a:r>
              <a:rPr sz="2550" spc="24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chemeClr val="bg1"/>
                </a:solidFill>
                <a:latin typeface="Calibri"/>
                <a:cs typeface="Calibri"/>
              </a:rPr>
              <a:t>AI</a:t>
            </a:r>
            <a:r>
              <a:rPr sz="2550" spc="-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550" spc="100" dirty="0">
                <a:solidFill>
                  <a:schemeClr val="bg1"/>
                </a:solidFill>
                <a:latin typeface="Calibri"/>
                <a:cs typeface="Calibri"/>
              </a:rPr>
              <a:t>Noman</a:t>
            </a:r>
            <a:r>
              <a:rPr sz="2550" spc="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550" spc="-185" dirty="0">
                <a:solidFill>
                  <a:schemeClr val="bg1"/>
                </a:solidFill>
                <a:latin typeface="Calibri"/>
                <a:cs typeface="Calibri"/>
              </a:rPr>
              <a:t>(22—</a:t>
            </a:r>
            <a:r>
              <a:rPr sz="2550" spc="-180" dirty="0">
                <a:solidFill>
                  <a:schemeClr val="bg1"/>
                </a:solidFill>
                <a:latin typeface="Calibri"/>
                <a:cs typeface="Calibri"/>
              </a:rPr>
              <a:t>47155—</a:t>
            </a:r>
            <a:r>
              <a:rPr sz="2550" spc="-25" dirty="0">
                <a:solidFill>
                  <a:schemeClr val="bg1"/>
                </a:solidFill>
                <a:latin typeface="Calibri"/>
                <a:cs typeface="Calibri"/>
              </a:rPr>
              <a:t>1)</a:t>
            </a:r>
            <a:endParaRPr sz="255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255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700" i="1" dirty="0">
                <a:solidFill>
                  <a:schemeClr val="bg1"/>
                </a:solidFill>
                <a:latin typeface="Times New Roman"/>
                <a:cs typeface="Times New Roman"/>
              </a:rPr>
              <a:t>Department</a:t>
            </a:r>
            <a:r>
              <a:rPr sz="2700" i="1" spc="27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700" i="1" dirty="0">
                <a:solidFill>
                  <a:schemeClr val="bg1"/>
                </a:solidFill>
                <a:latin typeface="Times New Roman"/>
                <a:cs typeface="Times New Roman"/>
              </a:rPr>
              <a:t>of</a:t>
            </a:r>
            <a:r>
              <a:rPr sz="2700" i="1" spc="29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700" i="1" spc="90" dirty="0">
                <a:solidFill>
                  <a:schemeClr val="bg1"/>
                </a:solidFill>
                <a:latin typeface="Times New Roman"/>
                <a:cs typeface="Times New Roman"/>
              </a:rPr>
              <a:t>Computer </a:t>
            </a:r>
            <a:r>
              <a:rPr sz="2700" i="1" spc="50" dirty="0">
                <a:solidFill>
                  <a:schemeClr val="bg1"/>
                </a:solidFill>
                <a:latin typeface="Times New Roman"/>
                <a:cs typeface="Times New Roman"/>
              </a:rPr>
              <a:t>Science</a:t>
            </a:r>
            <a:r>
              <a:rPr sz="2700" i="1" spc="-3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700" i="1" spc="-65" dirty="0">
                <a:solidFill>
                  <a:schemeClr val="bg1"/>
                </a:solidFill>
                <a:latin typeface="Times New Roman"/>
                <a:cs typeface="Times New Roman"/>
              </a:rPr>
              <a:t>6‹</a:t>
            </a:r>
            <a:r>
              <a:rPr sz="2700" i="1" spc="15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700" i="1" spc="-50" dirty="0">
                <a:solidFill>
                  <a:schemeClr val="bg1"/>
                </a:solidFill>
                <a:latin typeface="Times New Roman"/>
                <a:cs typeface="Times New Roman"/>
              </a:rPr>
              <a:t>Engineering</a:t>
            </a:r>
            <a:r>
              <a:rPr sz="2700" i="1" spc="3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700" i="1" spc="-10" dirty="0">
                <a:solidFill>
                  <a:schemeClr val="bg1"/>
                </a:solidFill>
                <a:latin typeface="Times New Roman"/>
                <a:cs typeface="Times New Roman"/>
              </a:rPr>
              <a:t>(CSE)</a:t>
            </a:r>
            <a:endParaRPr sz="27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22650" y="1539875"/>
            <a:ext cx="15835400" cy="979891"/>
          </a:xfrm>
          <a:prstGeom prst="rect">
            <a:avLst/>
          </a:prstGeom>
        </p:spPr>
        <p:txBody>
          <a:bodyPr vert="horz" wrap="square" lIns="0" tIns="147454" rIns="0" bIns="0" rtlCol="0">
            <a:spAutoFit/>
          </a:bodyPr>
          <a:lstStyle/>
          <a:p>
            <a:pPr algn="l"/>
            <a:r>
              <a:rPr lang="en-US" sz="6000" b="1" i="0" dirty="0">
                <a:solidFill>
                  <a:srgbClr val="00B0F0"/>
                </a:solidFill>
                <a:effectLst/>
                <a:latin typeface="Inter"/>
              </a:rPr>
              <a:t>Problem Framing &amp; Motivation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D41DDA-A90A-4A1D-B299-CA92C1849CC7}"/>
              </a:ext>
            </a:extLst>
          </p:cNvPr>
          <p:cNvSpPr/>
          <p:nvPr/>
        </p:nvSpPr>
        <p:spPr>
          <a:xfrm>
            <a:off x="2736850" y="3368675"/>
            <a:ext cx="14706600" cy="6643406"/>
          </a:xfrm>
          <a:prstGeom prst="roundRect">
            <a:avLst/>
          </a:prstGeom>
          <a:solidFill>
            <a:srgbClr val="39476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674D15-BDF5-4948-B8C3-1F3F3E3C50FC}"/>
              </a:ext>
            </a:extLst>
          </p:cNvPr>
          <p:cNvSpPr txBox="1"/>
          <p:nvPr/>
        </p:nvSpPr>
        <p:spPr>
          <a:xfrm>
            <a:off x="3232150" y="3983276"/>
            <a:ext cx="13182600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chemeClr val="bg1"/>
                </a:solidFill>
                <a:effectLst/>
                <a:latin typeface="Inter"/>
              </a:rPr>
              <a:t>The Core Problem:</a:t>
            </a:r>
            <a:r>
              <a:rPr lang="en-US" sz="3200" b="0" i="0" dirty="0">
                <a:solidFill>
                  <a:schemeClr val="bg1"/>
                </a:solidFill>
                <a:effectLst/>
                <a:latin typeface="Inter"/>
              </a:rPr>
              <a:t> Binary sentiment is insufficient. Analyzing "Why" an emotion exists is critical for Bengali NLP.</a:t>
            </a:r>
          </a:p>
          <a:p>
            <a:pPr algn="l"/>
            <a:endParaRPr lang="en-US" sz="3200" b="0" i="0" dirty="0">
              <a:solidFill>
                <a:schemeClr val="bg1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chemeClr val="bg1"/>
                </a:solidFill>
                <a:effectLst/>
                <a:latin typeface="Inter"/>
              </a:rPr>
              <a:t>Target Persona:</a:t>
            </a:r>
            <a:r>
              <a:rPr lang="en-US" sz="3200" b="0" i="0" dirty="0">
                <a:solidFill>
                  <a:schemeClr val="bg1"/>
                </a:solidFill>
                <a:effectLst/>
                <a:latin typeface="Inter"/>
              </a:rPr>
              <a:t> Corporate Brand Managers &amp; Mental Health Professionals in Bangladesh.</a:t>
            </a:r>
          </a:p>
          <a:p>
            <a:pPr algn="l"/>
            <a:endParaRPr lang="en-US" sz="3200" b="0" i="0" dirty="0">
              <a:solidFill>
                <a:schemeClr val="bg1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chemeClr val="bg1"/>
                </a:solidFill>
                <a:effectLst/>
                <a:latin typeface="Inter"/>
              </a:rPr>
              <a:t>Market Gap:</a:t>
            </a:r>
            <a:r>
              <a:rPr lang="en-US" sz="3200" b="0" i="0" dirty="0">
                <a:solidFill>
                  <a:schemeClr val="bg1"/>
                </a:solidFill>
                <a:effectLst/>
                <a:latin typeface="Inter"/>
              </a:rPr>
              <a:t> Most tools are English-centric; native Bengali tools lack emotion depth.</a:t>
            </a:r>
          </a:p>
          <a:p>
            <a:pPr algn="l"/>
            <a:endParaRPr lang="en-US" sz="3200" b="0" i="0" dirty="0">
              <a:solidFill>
                <a:schemeClr val="bg1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chemeClr val="bg1"/>
                </a:solidFill>
                <a:effectLst/>
                <a:latin typeface="Inter"/>
              </a:rPr>
              <a:t>Motivation:</a:t>
            </a:r>
            <a:r>
              <a:rPr lang="en-US" sz="3200" b="0" i="0" dirty="0">
                <a:solidFill>
                  <a:schemeClr val="bg1"/>
                </a:solidFill>
                <a:effectLst/>
                <a:latin typeface="Inter"/>
              </a:rPr>
              <a:t> To create an efficient, "Multi-Task" system for real-time understanding.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813050" y="1552670"/>
            <a:ext cx="15835400" cy="979891"/>
          </a:xfrm>
          <a:prstGeom prst="rect">
            <a:avLst/>
          </a:prstGeom>
        </p:spPr>
        <p:txBody>
          <a:bodyPr vert="horz" wrap="square" lIns="0" tIns="147454" rIns="0" bIns="0" rtlCol="0">
            <a:spAutoFit/>
          </a:bodyPr>
          <a:lstStyle/>
          <a:p>
            <a:pPr algn="l"/>
            <a:r>
              <a:rPr lang="en-US" sz="6000" b="1" i="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Architecture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3C9AE8-A3BF-4F2C-AF12-419F8DB3DAD7}"/>
              </a:ext>
            </a:extLst>
          </p:cNvPr>
          <p:cNvSpPr txBox="1"/>
          <p:nvPr/>
        </p:nvSpPr>
        <p:spPr>
          <a:xfrm>
            <a:off x="2660650" y="3825875"/>
            <a:ext cx="137160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Foundation:</a:t>
            </a:r>
            <a:r>
              <a:rPr lang="en-US" sz="3200" b="0" i="0" dirty="0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3200" b="0" i="0" dirty="0" err="1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BanglaBERT</a:t>
            </a:r>
            <a:r>
              <a:rPr lang="en-US" sz="3200" b="0" i="0" dirty="0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3200" b="0" i="0" dirty="0" err="1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csebuetnlp</a:t>
            </a:r>
            <a:r>
              <a:rPr lang="en-US" sz="3200" b="0" i="0" dirty="0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3200" b="0" i="0" dirty="0" err="1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banglabert</a:t>
            </a:r>
            <a:r>
              <a:rPr lang="en-US" sz="3200" b="0" i="0" dirty="0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for contextual embeddings.</a:t>
            </a:r>
          </a:p>
          <a:p>
            <a:pPr algn="l"/>
            <a:endParaRPr lang="en-US" sz="3200" b="0" i="0" dirty="0">
              <a:solidFill>
                <a:srgbClr val="F8FAF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Dual-Head Strategy:</a:t>
            </a:r>
            <a:r>
              <a:rPr lang="en-US" sz="3200" b="0" i="0" dirty="0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Shared encoder with two specialized classification heads.</a:t>
            </a:r>
          </a:p>
          <a:p>
            <a:pPr algn="l"/>
            <a:endParaRPr lang="en-US" sz="3200" b="0" i="0" dirty="0">
              <a:solidFill>
                <a:srgbClr val="F8FAF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Loss Optimization:</a:t>
            </a:r>
            <a:r>
              <a:rPr lang="en-US" sz="3200" b="0" i="0" dirty="0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Joint Cross-Entropy Loss for multi-task stability.</a:t>
            </a:r>
          </a:p>
          <a:p>
            <a:pPr algn="l"/>
            <a:endParaRPr lang="en-US" sz="3200" b="0" i="0" dirty="0">
              <a:solidFill>
                <a:srgbClr val="F8FAF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Pipeline:</a:t>
            </a:r>
            <a:r>
              <a:rPr lang="en-US" sz="3200" b="0" i="0" dirty="0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Unicode Normalization → Tokenization → BERT Encoder → Parallel Prediction.</a:t>
            </a:r>
          </a:p>
        </p:txBody>
      </p:sp>
      <p:pic>
        <p:nvPicPr>
          <p:cNvPr id="6" name="object 2">
            <a:extLst>
              <a:ext uri="{FF2B5EF4-FFF2-40B4-BE49-F238E27FC236}">
                <a16:creationId xmlns:a16="http://schemas.microsoft.com/office/drawing/2014/main" id="{FF033ABB-8556-46AE-98DE-59699C32B72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1656" y="3673475"/>
            <a:ext cx="235594" cy="62134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3450" y="3597275"/>
            <a:ext cx="5582871" cy="577197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502763" y="1413063"/>
            <a:ext cx="15835400" cy="1054079"/>
          </a:xfrm>
          <a:prstGeom prst="rect">
            <a:avLst/>
          </a:prstGeom>
        </p:spPr>
        <p:txBody>
          <a:bodyPr vert="horz" wrap="square" lIns="0" tIns="159965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95"/>
              </a:spcBef>
            </a:pPr>
            <a:r>
              <a:rPr sz="8700" spc="-2752" baseline="-10057" dirty="0">
                <a:solidFill>
                  <a:srgbClr val="00B0F0"/>
                </a:solidFill>
                <a:latin typeface="Cambria"/>
                <a:cs typeface="Cambria"/>
              </a:rPr>
              <a:t>1</a:t>
            </a:r>
            <a:r>
              <a:rPr lang="en-US" sz="8700" spc="1814" baseline="-10057" dirty="0">
                <a:solidFill>
                  <a:srgbClr val="00B0F0"/>
                </a:solidFill>
                <a:latin typeface="Cambria"/>
                <a:cs typeface="Cambria"/>
              </a:rPr>
              <a:t> </a:t>
            </a:r>
            <a:r>
              <a:rPr sz="58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5800" spc="-32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800" spc="-6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</a:t>
            </a:r>
            <a:r>
              <a:rPr sz="5800" spc="-135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8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Engine:</a:t>
            </a:r>
            <a:r>
              <a:rPr sz="5800" spc="-18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800" spc="-25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BanglaBERT</a:t>
            </a:r>
            <a:endParaRPr sz="5800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56725" y="4130675"/>
            <a:ext cx="8543925" cy="416524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45" dirty="0">
                <a:solidFill>
                  <a:srgbClr val="00B0F0"/>
                </a:solidFill>
                <a:latin typeface="Cambria"/>
                <a:cs typeface="Cambria"/>
              </a:rPr>
              <a:t>Why</a:t>
            </a:r>
            <a:r>
              <a:rPr sz="3600" spc="-114" dirty="0">
                <a:solidFill>
                  <a:srgbClr val="00B0F0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0B0F0"/>
                </a:solidFill>
                <a:latin typeface="Cambria"/>
                <a:cs typeface="Cambria"/>
              </a:rPr>
              <a:t>This</a:t>
            </a:r>
            <a:r>
              <a:rPr sz="3600" spc="-130" dirty="0">
                <a:solidFill>
                  <a:srgbClr val="00B0F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B0F0"/>
                </a:solidFill>
                <a:latin typeface="Cambria"/>
                <a:cs typeface="Cambria"/>
              </a:rPr>
              <a:t>Model?</a:t>
            </a:r>
            <a:endParaRPr sz="3600" dirty="0">
              <a:solidFill>
                <a:srgbClr val="00B0F0"/>
              </a:solidFill>
              <a:latin typeface="Cambria"/>
              <a:cs typeface="Cambria"/>
            </a:endParaRPr>
          </a:p>
          <a:p>
            <a:pPr marL="16510" marR="271145" indent="635">
              <a:lnSpc>
                <a:spcPct val="117800"/>
              </a:lnSpc>
              <a:spcBef>
                <a:spcPts val="1995"/>
              </a:spcBef>
            </a:pPr>
            <a:r>
              <a:rPr sz="2800" spc="-35" dirty="0">
                <a:solidFill>
                  <a:schemeClr val="bg1"/>
                </a:solidFill>
                <a:latin typeface="Calibri"/>
                <a:cs typeface="Calibri"/>
              </a:rPr>
              <a:t>BanglaBERT</a:t>
            </a:r>
            <a:r>
              <a:rPr sz="2800" spc="20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75" dirty="0">
                <a:solidFill>
                  <a:schemeClr val="bg1"/>
                </a:solidFill>
                <a:latin typeface="Calibri"/>
                <a:cs typeface="Calibri"/>
              </a:rPr>
              <a:t>is</a:t>
            </a:r>
            <a:r>
              <a:rPr sz="2800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pre-trained</a:t>
            </a:r>
            <a:r>
              <a:rPr sz="2800" spc="17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on</a:t>
            </a:r>
            <a:r>
              <a:rPr sz="2800" spc="-9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105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800" spc="-1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massive</a:t>
            </a:r>
            <a:r>
              <a:rPr sz="2800" spc="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5" dirty="0">
                <a:solidFill>
                  <a:schemeClr val="bg1"/>
                </a:solidFill>
                <a:latin typeface="Calibri"/>
                <a:cs typeface="Calibri"/>
              </a:rPr>
              <a:t>27.5</a:t>
            </a:r>
            <a:r>
              <a:rPr sz="2800" spc="6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GB</a:t>
            </a:r>
            <a:r>
              <a:rPr sz="2800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corpus </a:t>
            </a:r>
            <a:r>
              <a:rPr sz="2800" spc="-40" dirty="0">
                <a:solidFill>
                  <a:schemeClr val="bg1"/>
                </a:solidFill>
                <a:latin typeface="Calibri"/>
                <a:cs typeface="Calibri"/>
              </a:rPr>
              <a:t>(BangIa2B+).</a:t>
            </a:r>
            <a:r>
              <a:rPr sz="2800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It</a:t>
            </a:r>
            <a:r>
              <a:rPr sz="2800" spc="-15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understands</a:t>
            </a:r>
            <a:r>
              <a:rPr sz="2800" spc="25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the</a:t>
            </a:r>
            <a:r>
              <a:rPr sz="2800" spc="-15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bidirectional</a:t>
            </a:r>
            <a:r>
              <a:rPr sz="2800" spc="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context</a:t>
            </a:r>
            <a:r>
              <a:rPr sz="2800" spc="6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chemeClr val="bg1"/>
                </a:solidFill>
                <a:latin typeface="Calibri"/>
                <a:cs typeface="Calibri"/>
              </a:rPr>
              <a:t>and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linguistic</a:t>
            </a:r>
            <a:r>
              <a:rPr sz="2800" spc="-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nuances</a:t>
            </a:r>
            <a:r>
              <a:rPr sz="2800" spc="7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of</a:t>
            </a:r>
            <a:r>
              <a:rPr sz="2800" spc="-5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40" dirty="0">
                <a:solidFill>
                  <a:schemeClr val="bg1"/>
                </a:solidFill>
                <a:latin typeface="Calibri"/>
                <a:cs typeface="Calibri"/>
              </a:rPr>
              <a:t>Bengali</a:t>
            </a:r>
            <a:r>
              <a:rPr sz="2800" spc="-4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better</a:t>
            </a:r>
            <a:r>
              <a:rPr sz="2800" spc="-4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than</a:t>
            </a:r>
            <a:r>
              <a:rPr sz="2800" spc="-16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any</a:t>
            </a:r>
            <a:r>
              <a:rPr sz="2800" spc="-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traditional architecture.</a:t>
            </a:r>
            <a:endParaRPr sz="2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23495" marR="5080" indent="-6350">
              <a:lnSpc>
                <a:spcPct val="119600"/>
              </a:lnSpc>
              <a:spcBef>
                <a:spcPts val="2355"/>
              </a:spcBef>
            </a:pPr>
            <a:r>
              <a:rPr sz="2800" spc="50" dirty="0">
                <a:solidFill>
                  <a:schemeClr val="bg1"/>
                </a:solidFill>
                <a:latin typeface="Calibri"/>
                <a:cs typeface="Calibri"/>
              </a:rPr>
              <a:t>By</a:t>
            </a:r>
            <a:r>
              <a:rPr sz="2800" spc="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chemeClr val="bg1"/>
                </a:solidFill>
                <a:latin typeface="Calibri"/>
                <a:cs typeface="Calibri"/>
              </a:rPr>
              <a:t>leveraging</a:t>
            </a:r>
            <a:r>
              <a:rPr sz="2800" spc="2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Transfer Learning,</a:t>
            </a:r>
            <a:r>
              <a:rPr sz="2800" spc="1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chemeClr val="bg1"/>
                </a:solidFill>
                <a:latin typeface="Calibri"/>
                <a:cs typeface="Calibri"/>
              </a:rPr>
              <a:t>we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achieve</a:t>
            </a:r>
            <a:r>
              <a:rPr sz="2800" spc="100" dirty="0">
                <a:solidFill>
                  <a:schemeClr val="bg1"/>
                </a:solidFill>
                <a:latin typeface="Calibri"/>
                <a:cs typeface="Calibri"/>
              </a:rPr>
              <a:t> state-of-</a:t>
            </a:r>
            <a:r>
              <a:rPr sz="2800" spc="90" dirty="0">
                <a:solidFill>
                  <a:schemeClr val="bg1"/>
                </a:solidFill>
                <a:latin typeface="Calibri"/>
                <a:cs typeface="Calibri"/>
              </a:rPr>
              <a:t>the-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art</a:t>
            </a:r>
            <a:r>
              <a:rPr sz="2800" spc="-14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results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even</a:t>
            </a:r>
            <a:r>
              <a:rPr sz="2800" spc="-16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on</a:t>
            </a:r>
            <a:r>
              <a:rPr sz="2800" spc="-16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40" dirty="0">
                <a:solidFill>
                  <a:schemeClr val="bg1"/>
                </a:solidFill>
                <a:latin typeface="Calibri"/>
                <a:cs typeface="Calibri"/>
              </a:rPr>
              <a:t>smaller</a:t>
            </a:r>
            <a:r>
              <a:rPr sz="2800" spc="-8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labeled</a:t>
            </a:r>
            <a:r>
              <a:rPr sz="2800" spc="-7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datasets.</a:t>
            </a:r>
            <a:endParaRPr sz="28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100000">
              <a:schemeClr val="accent5">
                <a:lumMod val="50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08450" y="1286809"/>
            <a:ext cx="15835400" cy="971960"/>
          </a:xfrm>
          <a:prstGeom prst="rect">
            <a:avLst/>
          </a:prstGeom>
        </p:spPr>
        <p:txBody>
          <a:bodyPr vert="horz" wrap="square" lIns="0" tIns="139600" rIns="0" bIns="0" rtlCol="0">
            <a:spAutoFit/>
          </a:bodyPr>
          <a:lstStyle/>
          <a:p>
            <a:pPr algn="l"/>
            <a:r>
              <a:rPr lang="en-US" sz="6000" b="1" i="0" dirty="0">
                <a:solidFill>
                  <a:srgbClr val="00B0F0"/>
                </a:solidFill>
                <a:effectLst/>
                <a:latin typeface="Inter"/>
              </a:rPr>
              <a:t>Algorithm 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13858" y="6628458"/>
            <a:ext cx="8445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740" dirty="0">
                <a:solidFill>
                  <a:srgbClr val="6787A3"/>
                </a:solidFill>
                <a:latin typeface="Times New Roman"/>
                <a:cs typeface="Times New Roman"/>
              </a:rPr>
              <a:t>+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D445848-BD6C-427D-9D5A-2A24D16B1DEC}"/>
              </a:ext>
            </a:extLst>
          </p:cNvPr>
          <p:cNvSpPr/>
          <p:nvPr/>
        </p:nvSpPr>
        <p:spPr>
          <a:xfrm>
            <a:off x="2293850" y="3597275"/>
            <a:ext cx="15835400" cy="6477000"/>
          </a:xfrm>
          <a:prstGeom prst="roundRect">
            <a:avLst/>
          </a:prstGeom>
          <a:solidFill>
            <a:srgbClr val="38466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85F463-530B-4CF9-A255-987B8B635B38}"/>
              </a:ext>
            </a:extLst>
          </p:cNvPr>
          <p:cNvSpPr txBox="1"/>
          <p:nvPr/>
        </p:nvSpPr>
        <p:spPr>
          <a:xfrm>
            <a:off x="3422650" y="4366300"/>
            <a:ext cx="14097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i="0" dirty="0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Attention Mechanism:</a:t>
            </a:r>
            <a:r>
              <a:rPr lang="en-US" sz="3200" b="0" i="0" dirty="0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Dynamic weight assignment to critical Bengali linguistic features.</a:t>
            </a:r>
          </a:p>
          <a:p>
            <a:pPr algn="l"/>
            <a:endParaRPr lang="en-US" sz="3200" b="0" i="0" dirty="0">
              <a:solidFill>
                <a:srgbClr val="F8FAF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3200" b="1" i="0" dirty="0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Hyperparameters:</a:t>
            </a:r>
            <a:r>
              <a:rPr lang="en-US" sz="3200" b="0" i="0" dirty="0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3200" b="0" i="0" dirty="0" err="1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AdamW</a:t>
            </a:r>
            <a:r>
              <a:rPr lang="en-US" sz="3200" b="0" i="0" dirty="0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Optimizer, 2e-5 Learning Rate, 5 Epochs.</a:t>
            </a:r>
          </a:p>
          <a:p>
            <a:pPr algn="l"/>
            <a:endParaRPr lang="en-US" sz="3200" b="0" i="0" dirty="0">
              <a:solidFill>
                <a:srgbClr val="F8FAF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3200" b="1" i="0" dirty="0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Overfitting Prevention:</a:t>
            </a:r>
            <a:r>
              <a:rPr lang="en-US" sz="3200" b="0" i="0" dirty="0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0.1 Dropout layers + Early Stopping validation.</a:t>
            </a:r>
          </a:p>
          <a:p>
            <a:pPr algn="l"/>
            <a:endParaRPr lang="en-US" sz="3200" b="0" i="0" dirty="0">
              <a:solidFill>
                <a:srgbClr val="F8FAF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3200" b="1" i="0" dirty="0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Dual-Head?</a:t>
            </a:r>
            <a:r>
              <a:rPr lang="en-US" sz="3200" b="0" i="0" dirty="0">
                <a:solidFill>
                  <a:srgbClr val="F8FAF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40% reduction in inference time compared to two separate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248926" y="1235075"/>
            <a:ext cx="15835400" cy="999617"/>
          </a:xfrm>
          <a:prstGeom prst="rect">
            <a:avLst/>
          </a:prstGeom>
        </p:spPr>
        <p:txBody>
          <a:bodyPr vert="horz" wrap="square" lIns="0" tIns="166990" rIns="0" bIns="0" rtlCol="0">
            <a:spAutoFit/>
          </a:bodyPr>
          <a:lstStyle/>
          <a:p>
            <a:pPr algn="l"/>
            <a:r>
              <a:rPr lang="en-US" sz="6000" b="1" i="0" dirty="0">
                <a:solidFill>
                  <a:srgbClr val="38BDF8"/>
                </a:solidFill>
                <a:effectLst/>
                <a:latin typeface="Inter"/>
              </a:rPr>
              <a:t>Evaluation &amp; Results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DC158E-1494-42A1-89AD-2711662BA4A9}"/>
              </a:ext>
            </a:extLst>
          </p:cNvPr>
          <p:cNvSpPr/>
          <p:nvPr/>
        </p:nvSpPr>
        <p:spPr>
          <a:xfrm>
            <a:off x="1898650" y="3978275"/>
            <a:ext cx="6248400" cy="4267200"/>
          </a:xfrm>
          <a:prstGeom prst="roundRect">
            <a:avLst/>
          </a:prstGeom>
          <a:solidFill>
            <a:srgbClr val="3B4A7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4E10C9-5F8A-4CD1-92F0-7C4053ED1544}"/>
              </a:ext>
            </a:extLst>
          </p:cNvPr>
          <p:cNvSpPr txBox="1"/>
          <p:nvPr/>
        </p:nvSpPr>
        <p:spPr>
          <a:xfrm>
            <a:off x="2318465" y="5003879"/>
            <a:ext cx="566535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000" b="1" i="0" dirty="0">
                <a:solidFill>
                  <a:srgbClr val="F8FAFC"/>
                </a:solidFill>
                <a:effectLst/>
                <a:latin typeface="Inter"/>
              </a:rPr>
              <a:t>Sentiment Accuracy: 90%</a:t>
            </a:r>
          </a:p>
          <a:p>
            <a:pPr algn="l"/>
            <a:endParaRPr lang="en-US" sz="4000" b="0" i="0" dirty="0">
              <a:solidFill>
                <a:srgbClr val="F8FAFC"/>
              </a:solidFill>
              <a:effectLst/>
              <a:latin typeface="Inter"/>
            </a:endParaRPr>
          </a:p>
          <a:p>
            <a:pPr algn="l"/>
            <a:r>
              <a:rPr lang="en-US" sz="4000" b="1" i="0" dirty="0">
                <a:solidFill>
                  <a:srgbClr val="F8FAFC"/>
                </a:solidFill>
                <a:effectLst/>
                <a:latin typeface="Inter"/>
              </a:rPr>
              <a:t>Emotion Accuracy: 82%</a:t>
            </a:r>
            <a:endParaRPr lang="en-US" sz="4000" b="0" i="0" dirty="0">
              <a:solidFill>
                <a:srgbClr val="F8FAFC"/>
              </a:solidFill>
              <a:effectLst/>
              <a:latin typeface="Inter"/>
            </a:endParaRPr>
          </a:p>
          <a:p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B542DAB-8C18-466F-8B77-023B7C4C7B74}"/>
              </a:ext>
            </a:extLst>
          </p:cNvPr>
          <p:cNvSpPr/>
          <p:nvPr/>
        </p:nvSpPr>
        <p:spPr>
          <a:xfrm>
            <a:off x="9201285" y="3978275"/>
            <a:ext cx="9753600" cy="4267200"/>
          </a:xfrm>
          <a:prstGeom prst="roundRect">
            <a:avLst/>
          </a:prstGeom>
          <a:solidFill>
            <a:srgbClr val="3B4A7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243067-6604-4A38-83E0-6F129F61C04D}"/>
              </a:ext>
            </a:extLst>
          </p:cNvPr>
          <p:cNvSpPr txBox="1"/>
          <p:nvPr/>
        </p:nvSpPr>
        <p:spPr>
          <a:xfrm>
            <a:off x="9518649" y="4587875"/>
            <a:ext cx="95604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b="1" i="0" dirty="0">
                <a:solidFill>
                  <a:srgbClr val="FBBF24"/>
                </a:solidFill>
                <a:effectLst/>
                <a:latin typeface="Inter"/>
              </a:rPr>
              <a:t>Error Analysis:</a:t>
            </a:r>
            <a:endParaRPr lang="en-US" sz="3600" b="0" i="0" dirty="0">
              <a:solidFill>
                <a:srgbClr val="FBBF24"/>
              </a:solidFill>
              <a:effectLst/>
              <a:latin typeface="Inter"/>
            </a:endParaRPr>
          </a:p>
          <a:p>
            <a:pPr algn="l"/>
            <a:r>
              <a:rPr lang="en-US" sz="3600" b="0" i="0" dirty="0">
                <a:solidFill>
                  <a:srgbClr val="F8FAFC"/>
                </a:solidFill>
                <a:effectLst/>
                <a:latin typeface="Inter"/>
              </a:rPr>
              <a:t>Confusion between "Sadness" and "Neutral" in shorter sentences.</a:t>
            </a:r>
          </a:p>
          <a:p>
            <a:pPr algn="l"/>
            <a:r>
              <a:rPr lang="en-US" sz="3600" b="0" i="0" dirty="0">
                <a:solidFill>
                  <a:srgbClr val="F8FAFC"/>
                </a:solidFill>
                <a:effectLst/>
                <a:latin typeface="Inter"/>
              </a:rPr>
              <a:t>Sarcasm detection remains a planned improvement.</a:t>
            </a: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AAFEC134-93CF-4D3A-AD5D-C65A8DE36A89}"/>
              </a:ext>
            </a:extLst>
          </p:cNvPr>
          <p:cNvSpPr/>
          <p:nvPr/>
        </p:nvSpPr>
        <p:spPr>
          <a:xfrm>
            <a:off x="8566865" y="1955879"/>
            <a:ext cx="214605" cy="8727996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058150" y="1434224"/>
            <a:ext cx="15835400" cy="979891"/>
          </a:xfrm>
          <a:prstGeom prst="rect">
            <a:avLst/>
          </a:prstGeom>
        </p:spPr>
        <p:txBody>
          <a:bodyPr vert="horz" wrap="square" lIns="0" tIns="147454" rIns="0" bIns="0" rtlCol="0">
            <a:spAutoFit/>
          </a:bodyPr>
          <a:lstStyle/>
          <a:p>
            <a:pPr algn="l"/>
            <a:r>
              <a:rPr lang="en-US" sz="6000" b="1" i="0" dirty="0">
                <a:solidFill>
                  <a:srgbClr val="38BDF8"/>
                </a:solidFill>
                <a:effectLst/>
                <a:latin typeface="Inter"/>
              </a:rPr>
              <a:t>Functional Interface Demo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5C4B8C0-BBF8-4A09-9225-BE3A7528DDFB}"/>
              </a:ext>
            </a:extLst>
          </p:cNvPr>
          <p:cNvSpPr/>
          <p:nvPr/>
        </p:nvSpPr>
        <p:spPr>
          <a:xfrm>
            <a:off x="1517650" y="3521075"/>
            <a:ext cx="17449800" cy="6461563"/>
          </a:xfrm>
          <a:prstGeom prst="roundRect">
            <a:avLst/>
          </a:prstGeom>
          <a:solidFill>
            <a:srgbClr val="3C4B7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FB8504-9D35-4AEA-BED9-7DB5C40EDA12}"/>
              </a:ext>
            </a:extLst>
          </p:cNvPr>
          <p:cNvSpPr txBox="1"/>
          <p:nvPr/>
        </p:nvSpPr>
        <p:spPr>
          <a:xfrm>
            <a:off x="2584450" y="4130675"/>
            <a:ext cx="147828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0" dirty="0" err="1">
                <a:solidFill>
                  <a:srgbClr val="F8FAFC"/>
                </a:solidFill>
                <a:effectLst/>
                <a:latin typeface="Inter"/>
              </a:rPr>
              <a:t>FastAPI</a:t>
            </a:r>
            <a:r>
              <a:rPr lang="en-US" sz="3200" b="1" i="0" dirty="0">
                <a:solidFill>
                  <a:srgbClr val="F8FAFC"/>
                </a:solidFill>
                <a:effectLst/>
                <a:latin typeface="Inter"/>
              </a:rPr>
              <a:t> Backend + </a:t>
            </a:r>
            <a:r>
              <a:rPr lang="en-US" sz="3200" b="1" i="0" dirty="0" err="1">
                <a:solidFill>
                  <a:srgbClr val="F8FAFC"/>
                </a:solidFill>
                <a:effectLst/>
                <a:latin typeface="Inter"/>
              </a:rPr>
              <a:t>Streamlit</a:t>
            </a:r>
            <a:r>
              <a:rPr lang="en-US" sz="3200" b="1" i="0" dirty="0">
                <a:solidFill>
                  <a:srgbClr val="F8FAFC"/>
                </a:solidFill>
                <a:effectLst/>
                <a:latin typeface="Inter"/>
              </a:rPr>
              <a:t> UI</a:t>
            </a:r>
          </a:p>
          <a:p>
            <a:pPr algn="ctr"/>
            <a:endParaRPr lang="en-US" sz="3200" b="0" i="0" dirty="0">
              <a:solidFill>
                <a:srgbClr val="F8FAFC"/>
              </a:solidFill>
              <a:effectLst/>
              <a:latin typeface="Inter"/>
            </a:endParaRPr>
          </a:p>
          <a:p>
            <a:pPr algn="ctr"/>
            <a:r>
              <a:rPr lang="en-US" sz="3200" b="0" i="0" dirty="0">
                <a:solidFill>
                  <a:srgbClr val="94A3B8"/>
                </a:solidFill>
                <a:effectLst/>
                <a:latin typeface="Inter"/>
              </a:rPr>
              <a:t>[Demonstrating Real-time Bengali Input &amp; Probability Scores]</a:t>
            </a:r>
          </a:p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00CBE2-BBEB-4646-A36C-9BD88895F715}"/>
              </a:ext>
            </a:extLst>
          </p:cNvPr>
          <p:cNvSpPr/>
          <p:nvPr/>
        </p:nvSpPr>
        <p:spPr>
          <a:xfrm>
            <a:off x="2584450" y="6271185"/>
            <a:ext cx="15392400" cy="2819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9CD0A1-0ECA-408B-9405-C7E4936E2FD5}"/>
              </a:ext>
            </a:extLst>
          </p:cNvPr>
          <p:cNvSpPr txBox="1"/>
          <p:nvPr/>
        </p:nvSpPr>
        <p:spPr>
          <a:xfrm>
            <a:off x="6029885" y="7164982"/>
            <a:ext cx="80391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F8FAFC"/>
                </a:solidFill>
                <a:effectLst/>
                <a:latin typeface="Courier New" panose="02070309020205020404" pitchFamily="49" charset="0"/>
              </a:rPr>
              <a:t>&gt;&gt;&gt; </a:t>
            </a:r>
            <a:r>
              <a:rPr lang="en-US" sz="2800" b="1" i="0" dirty="0" err="1">
                <a:solidFill>
                  <a:srgbClr val="F8FAFC"/>
                </a:solidFill>
                <a:effectLst/>
                <a:latin typeface="Courier New" panose="02070309020205020404" pitchFamily="49" charset="0"/>
              </a:rPr>
              <a:t>uvicorn</a:t>
            </a:r>
            <a:r>
              <a:rPr lang="en-US" sz="2800" b="1" i="0" dirty="0">
                <a:solidFill>
                  <a:srgbClr val="F8FAF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800" b="1" i="0" dirty="0" err="1">
                <a:solidFill>
                  <a:srgbClr val="F8FAFC"/>
                </a:solidFill>
                <a:effectLst/>
                <a:latin typeface="Courier New" panose="02070309020205020404" pitchFamily="49" charset="0"/>
              </a:rPr>
              <a:t>api.main:app</a:t>
            </a:r>
            <a:r>
              <a:rPr lang="en-US" sz="2800" b="1" i="0" dirty="0">
                <a:solidFill>
                  <a:srgbClr val="F8FAFC"/>
                </a:solidFill>
                <a:effectLst/>
                <a:latin typeface="Courier New" panose="02070309020205020404" pitchFamily="49" charset="0"/>
              </a:rPr>
              <a:t> --reload</a:t>
            </a:r>
            <a:br>
              <a:rPr lang="en-US" sz="2800" b="1" dirty="0"/>
            </a:br>
            <a:r>
              <a:rPr lang="en-US" sz="2800" b="1" i="0" dirty="0">
                <a:solidFill>
                  <a:srgbClr val="F8FAFC"/>
                </a:solidFill>
                <a:effectLst/>
                <a:latin typeface="Courier New" panose="02070309020205020404" pitchFamily="49" charset="0"/>
              </a:rPr>
              <a:t>&gt;&gt;&gt; </a:t>
            </a:r>
            <a:r>
              <a:rPr lang="en-US" sz="2800" b="1" i="0" dirty="0" err="1">
                <a:solidFill>
                  <a:srgbClr val="F8FAFC"/>
                </a:solidFill>
                <a:effectLst/>
                <a:latin typeface="Courier New" panose="02070309020205020404" pitchFamily="49" charset="0"/>
              </a:rPr>
              <a:t>streamlit</a:t>
            </a:r>
            <a:r>
              <a:rPr lang="en-US" sz="2800" b="1" i="0" dirty="0">
                <a:solidFill>
                  <a:srgbClr val="F8FAFC"/>
                </a:solidFill>
                <a:effectLst/>
                <a:latin typeface="Courier New" panose="02070309020205020404" pitchFamily="49" charset="0"/>
              </a:rPr>
              <a:t> run webapp/app.py</a:t>
            </a:r>
            <a:endParaRPr lang="en-US" sz="28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89188" y="1692275"/>
            <a:ext cx="9738783" cy="843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l"/>
            <a:r>
              <a:rPr lang="en-US" sz="6000" b="1" i="0" dirty="0">
                <a:solidFill>
                  <a:srgbClr val="38BDF8"/>
                </a:solidFill>
                <a:effectLst/>
                <a:latin typeface="Inter"/>
              </a:rPr>
              <a:t>Impact &amp; Scalability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22921" y="-39531"/>
            <a:ext cx="230505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120" dirty="0">
                <a:latin typeface="Cambria"/>
                <a:cs typeface="Cambria"/>
              </a:rPr>
              <a:t>Ls?Dashboard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Demo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38DB9BB4-D70A-4403-91F1-6712C36F266D}"/>
              </a:ext>
            </a:extLst>
          </p:cNvPr>
          <p:cNvSpPr/>
          <p:nvPr/>
        </p:nvSpPr>
        <p:spPr>
          <a:xfrm>
            <a:off x="2279650" y="513665"/>
            <a:ext cx="152400" cy="3200400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7833EAD-3DB9-412B-B64D-BCDCE3F1DCC8}"/>
              </a:ext>
            </a:extLst>
          </p:cNvPr>
          <p:cNvSpPr/>
          <p:nvPr/>
        </p:nvSpPr>
        <p:spPr>
          <a:xfrm>
            <a:off x="1746250" y="3714065"/>
            <a:ext cx="16230600" cy="5181600"/>
          </a:xfrm>
          <a:prstGeom prst="roundRect">
            <a:avLst/>
          </a:prstGeom>
          <a:solidFill>
            <a:srgbClr val="38466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11B679-FE7D-4172-A30F-FDEEF1ED6E40}"/>
              </a:ext>
            </a:extLst>
          </p:cNvPr>
          <p:cNvSpPr txBox="1"/>
          <p:nvPr/>
        </p:nvSpPr>
        <p:spPr>
          <a:xfrm>
            <a:off x="2432050" y="4587875"/>
            <a:ext cx="14249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600" b="1" i="0" dirty="0">
                <a:solidFill>
                  <a:srgbClr val="F8FAFC"/>
                </a:solidFill>
                <a:effectLst/>
                <a:latin typeface="Inter"/>
              </a:rPr>
              <a:t>Revenue Model:</a:t>
            </a:r>
            <a:r>
              <a:rPr lang="en-US" sz="3600" b="0" i="0" dirty="0">
                <a:solidFill>
                  <a:srgbClr val="F8FAFC"/>
                </a:solidFill>
                <a:effectLst/>
                <a:latin typeface="Inter"/>
              </a:rPr>
              <a:t> API-as-a-Service for Digital Marketing Agencies.</a:t>
            </a:r>
          </a:p>
          <a:p>
            <a:pPr algn="l"/>
            <a:endParaRPr lang="en-US" sz="3600" b="0" i="0" dirty="0">
              <a:solidFill>
                <a:srgbClr val="F8FAFC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1" i="0" dirty="0">
                <a:solidFill>
                  <a:srgbClr val="F8FAFC"/>
                </a:solidFill>
                <a:effectLst/>
                <a:latin typeface="Inter"/>
              </a:rPr>
              <a:t>Sustainability:</a:t>
            </a:r>
            <a:r>
              <a:rPr lang="en-US" sz="3600" b="0" i="0" dirty="0">
                <a:solidFill>
                  <a:srgbClr val="F8FAFC"/>
                </a:solidFill>
                <a:effectLst/>
                <a:latin typeface="Inter"/>
              </a:rPr>
              <a:t> Deployment on scalable AWS/GCP clusters.</a:t>
            </a:r>
          </a:p>
          <a:p>
            <a:pPr algn="l"/>
            <a:endParaRPr lang="en-US" sz="3600" b="0" i="0" dirty="0">
              <a:solidFill>
                <a:srgbClr val="F8FAFC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1" i="0" dirty="0">
                <a:solidFill>
                  <a:srgbClr val="F8FAFC"/>
                </a:solidFill>
                <a:effectLst/>
                <a:latin typeface="Inter"/>
              </a:rPr>
              <a:t>Roadmap:</a:t>
            </a:r>
            <a:r>
              <a:rPr lang="en-US" sz="3600" b="0" i="0" dirty="0">
                <a:solidFill>
                  <a:srgbClr val="F8FAFC"/>
                </a:solidFill>
                <a:effectLst/>
                <a:latin typeface="Inter"/>
              </a:rPr>
              <a:t> 10K users through </a:t>
            </a:r>
            <a:r>
              <a:rPr lang="en-US" sz="3600" b="0" i="0" dirty="0" err="1">
                <a:solidFill>
                  <a:srgbClr val="F8FAFC"/>
                </a:solidFill>
                <a:effectLst/>
                <a:latin typeface="Inter"/>
              </a:rPr>
              <a:t>Banglish</a:t>
            </a:r>
            <a:r>
              <a:rPr lang="en-US" sz="3600" b="0" i="0" dirty="0">
                <a:solidFill>
                  <a:srgbClr val="F8FAFC"/>
                </a:solidFill>
                <a:effectLst/>
                <a:latin typeface="Inter"/>
              </a:rPr>
              <a:t> support and Voice integration.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673" y="2355949"/>
            <a:ext cx="235594" cy="801022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93594" y="1326712"/>
            <a:ext cx="15835400" cy="1018363"/>
          </a:xfrm>
          <a:prstGeom prst="rect">
            <a:avLst/>
          </a:prstGeom>
        </p:spPr>
        <p:txBody>
          <a:bodyPr vert="horz" wrap="square" lIns="0" tIns="147454" rIns="0" bIns="0" rtlCol="0">
            <a:spAutoFit/>
          </a:bodyPr>
          <a:lstStyle/>
          <a:p>
            <a:pPr marL="531495">
              <a:lnSpc>
                <a:spcPct val="100000"/>
              </a:lnSpc>
              <a:spcBef>
                <a:spcPts val="114"/>
              </a:spcBef>
            </a:pPr>
            <a:r>
              <a:rPr sz="5650" spc="60" dirty="0">
                <a:solidFill>
                  <a:srgbClr val="00B0F0"/>
                </a:solidFill>
                <a:latin typeface="Cambria"/>
                <a:cs typeface="Cambria"/>
              </a:rPr>
              <a:t>Conclusion</a:t>
            </a:r>
            <a:endParaRPr sz="5650" dirty="0">
              <a:solidFill>
                <a:srgbClr val="00B0F0"/>
              </a:solidFill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6547" y="3521075"/>
            <a:ext cx="16931005" cy="3438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dirty="0">
                <a:solidFill>
                  <a:srgbClr val="00B0F0"/>
                </a:solidFill>
                <a:latin typeface="Cambria"/>
                <a:cs typeface="Cambria"/>
              </a:rPr>
              <a:t>Project</a:t>
            </a:r>
            <a:r>
              <a:rPr sz="3600" spc="290" dirty="0">
                <a:solidFill>
                  <a:srgbClr val="00B0F0"/>
                </a:solidFill>
                <a:latin typeface="Cambria"/>
                <a:cs typeface="Cambria"/>
              </a:rPr>
              <a:t> </a:t>
            </a:r>
            <a:r>
              <a:rPr sz="3600" spc="60" dirty="0">
                <a:solidFill>
                  <a:srgbClr val="00B0F0"/>
                </a:solidFill>
                <a:latin typeface="Cambria"/>
                <a:cs typeface="Cambria"/>
              </a:rPr>
              <a:t>Impact</a:t>
            </a:r>
            <a:endParaRPr sz="3600" dirty="0">
              <a:solidFill>
                <a:srgbClr val="00B0F0"/>
              </a:solidFill>
              <a:latin typeface="Cambria"/>
              <a:cs typeface="Cambria"/>
            </a:endParaRPr>
          </a:p>
          <a:p>
            <a:pPr marL="23495" marR="424180" indent="-2540">
              <a:lnSpc>
                <a:spcPct val="117800"/>
              </a:lnSpc>
              <a:spcBef>
                <a:spcPts val="2030"/>
              </a:spcBef>
            </a:pPr>
            <a:r>
              <a:rPr sz="3200" spc="-160" dirty="0">
                <a:solidFill>
                  <a:schemeClr val="bg1"/>
                </a:solidFill>
                <a:latin typeface="Calibri"/>
                <a:cs typeface="Calibri"/>
              </a:rPr>
              <a:t>We</a:t>
            </a:r>
            <a:r>
              <a:rPr sz="32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have</a:t>
            </a:r>
            <a:r>
              <a:rPr sz="3200" spc="-16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successfully</a:t>
            </a:r>
            <a:r>
              <a:rPr sz="3200" spc="5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built</a:t>
            </a:r>
            <a:r>
              <a:rPr sz="3200" spc="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an</a:t>
            </a:r>
            <a:r>
              <a:rPr sz="3200" spc="-16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chemeClr val="bg1"/>
                </a:solidFill>
                <a:latin typeface="Calibri"/>
                <a:cs typeface="Calibri"/>
              </a:rPr>
              <a:t>efficient,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spc="-85" dirty="0">
                <a:solidFill>
                  <a:schemeClr val="bg1"/>
                </a:solidFill>
                <a:latin typeface="Calibri"/>
                <a:cs typeface="Calibri"/>
              </a:rPr>
              <a:t>high—</a:t>
            </a:r>
            <a:r>
              <a:rPr sz="3200" spc="-75" dirty="0">
                <a:solidFill>
                  <a:schemeClr val="bg1"/>
                </a:solidFill>
                <a:latin typeface="Calibri"/>
                <a:cs typeface="Calibri"/>
              </a:rPr>
              <a:t>performance</a:t>
            </a:r>
            <a:r>
              <a:rPr sz="3200" spc="-1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spc="-30" dirty="0">
                <a:solidFill>
                  <a:schemeClr val="bg1"/>
                </a:solidFill>
                <a:latin typeface="Calibri"/>
                <a:cs typeface="Calibri"/>
              </a:rPr>
              <a:t>Bengali</a:t>
            </a:r>
            <a:r>
              <a:rPr sz="3200" spc="7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bg1"/>
                </a:solidFill>
                <a:latin typeface="Calibri"/>
                <a:cs typeface="Calibri"/>
              </a:rPr>
              <a:t>sentiment</a:t>
            </a:r>
            <a:r>
              <a:rPr sz="3200" spc="1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analysis</a:t>
            </a:r>
            <a:r>
              <a:rPr sz="3200" spc="8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system.</a:t>
            </a:r>
            <a:r>
              <a:rPr sz="3200" spc="-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By</a:t>
            </a:r>
            <a:r>
              <a:rPr sz="3200" spc="-9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using</a:t>
            </a:r>
            <a:r>
              <a:rPr sz="3200" spc="-8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spc="105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3200" spc="-16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spc="-180" dirty="0">
                <a:solidFill>
                  <a:schemeClr val="bg1"/>
                </a:solidFill>
                <a:latin typeface="Calibri"/>
                <a:cs typeface="Calibri"/>
              </a:rPr>
              <a:t>Dual—</a:t>
            </a:r>
            <a:r>
              <a:rPr sz="3200" spc="-45" dirty="0">
                <a:solidFill>
                  <a:schemeClr val="bg1"/>
                </a:solidFill>
                <a:latin typeface="Calibri"/>
                <a:cs typeface="Calibri"/>
              </a:rPr>
              <a:t>Head </a:t>
            </a:r>
            <a:r>
              <a:rPr sz="3200" spc="-20" dirty="0">
                <a:solidFill>
                  <a:schemeClr val="bg1"/>
                </a:solidFill>
                <a:latin typeface="Calibri"/>
                <a:cs typeface="Calibri"/>
              </a:rPr>
              <a:t>architecture,</a:t>
            </a:r>
            <a:r>
              <a:rPr sz="3200" spc="19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spc="-35" dirty="0">
                <a:solidFill>
                  <a:schemeClr val="bg1"/>
                </a:solidFill>
                <a:latin typeface="Calibri"/>
                <a:cs typeface="Calibri"/>
              </a:rPr>
              <a:t>we</a:t>
            </a:r>
            <a:r>
              <a:rPr sz="3200" spc="-7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optimized</a:t>
            </a:r>
            <a:r>
              <a:rPr sz="3200" spc="11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both</a:t>
            </a:r>
            <a:r>
              <a:rPr sz="32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computational</a:t>
            </a:r>
            <a:r>
              <a:rPr sz="3200" spc="1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speed</a:t>
            </a:r>
            <a:r>
              <a:rPr sz="3200" spc="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and</a:t>
            </a:r>
            <a:r>
              <a:rPr sz="3200" spc="-5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linguistic</a:t>
            </a:r>
            <a:r>
              <a:rPr sz="3200" spc="1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bg1"/>
                </a:solidFill>
                <a:latin typeface="Calibri"/>
                <a:cs typeface="Calibri"/>
              </a:rPr>
              <a:t>accuracy.</a:t>
            </a:r>
            <a:endParaRPr sz="32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23495" marR="5080" indent="5080">
              <a:lnSpc>
                <a:spcPct val="119600"/>
              </a:lnSpc>
              <a:spcBef>
                <a:spcPts val="2350"/>
              </a:spcBef>
            </a:pP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This</a:t>
            </a:r>
            <a:r>
              <a:rPr sz="3200" spc="-1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project</a:t>
            </a:r>
            <a:r>
              <a:rPr sz="3200" spc="4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proves</a:t>
            </a:r>
            <a:r>
              <a:rPr sz="3200" spc="5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that</a:t>
            </a:r>
            <a:r>
              <a:rPr sz="32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with</a:t>
            </a:r>
            <a:r>
              <a:rPr sz="32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the</a:t>
            </a:r>
            <a:r>
              <a:rPr sz="3200" spc="-1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right</a:t>
            </a:r>
            <a:r>
              <a:rPr sz="3200" spc="4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chemeClr val="bg1"/>
                </a:solidFill>
                <a:latin typeface="Calibri"/>
                <a:cs typeface="Calibri"/>
              </a:rPr>
              <a:t>transfer</a:t>
            </a:r>
            <a:r>
              <a:rPr sz="3200" spc="-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chemeClr val="bg1"/>
                </a:solidFill>
                <a:latin typeface="Calibri"/>
                <a:cs typeface="Calibri"/>
              </a:rPr>
              <a:t>learning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bg1"/>
                </a:solidFill>
                <a:latin typeface="Calibri"/>
                <a:cs typeface="Calibri"/>
              </a:rPr>
              <a:t>techniques,</a:t>
            </a:r>
            <a:r>
              <a:rPr sz="3200" spc="1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even</a:t>
            </a:r>
            <a:r>
              <a:rPr sz="3200" spc="-1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complex</a:t>
            </a:r>
            <a:r>
              <a:rPr sz="3200" spc="7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spc="-195" dirty="0">
                <a:solidFill>
                  <a:schemeClr val="bg1"/>
                </a:solidFill>
                <a:latin typeface="Calibri"/>
                <a:cs typeface="Calibri"/>
              </a:rPr>
              <a:t>low—</a:t>
            </a:r>
            <a:r>
              <a:rPr sz="3200" spc="-110" dirty="0">
                <a:solidFill>
                  <a:schemeClr val="bg1"/>
                </a:solidFill>
                <a:latin typeface="Calibri"/>
                <a:cs typeface="Calibri"/>
              </a:rPr>
              <a:t>resource</a:t>
            </a:r>
            <a:r>
              <a:rPr sz="3200" spc="15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chemeClr val="bg1"/>
                </a:solidFill>
                <a:latin typeface="Calibri"/>
                <a:cs typeface="Calibri"/>
              </a:rPr>
              <a:t>languages</a:t>
            </a:r>
            <a:r>
              <a:rPr sz="3200" spc="5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spc="-90" dirty="0">
                <a:solidFill>
                  <a:schemeClr val="bg1"/>
                </a:solidFill>
                <a:latin typeface="Calibri"/>
                <a:cs typeface="Calibri"/>
              </a:rPr>
              <a:t>like</a:t>
            </a:r>
            <a:r>
              <a:rPr sz="3200" spc="-6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bg1"/>
                </a:solidFill>
                <a:latin typeface="Calibri"/>
                <a:cs typeface="Calibri"/>
              </a:rPr>
              <a:t>Bengali </a:t>
            </a:r>
            <a:r>
              <a:rPr sz="3200" spc="50" dirty="0">
                <a:solidFill>
                  <a:schemeClr val="bg1"/>
                </a:solidFill>
                <a:latin typeface="Calibri"/>
                <a:cs typeface="Calibri"/>
              </a:rPr>
              <a:t>can</a:t>
            </a:r>
            <a:r>
              <a:rPr sz="3200" spc="-16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spc="80" dirty="0">
                <a:solidFill>
                  <a:schemeClr val="bg1"/>
                </a:solidFill>
                <a:latin typeface="Calibri"/>
                <a:cs typeface="Calibri"/>
              </a:rPr>
              <a:t>be</a:t>
            </a:r>
            <a:r>
              <a:rPr sz="3200" spc="-1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analyzed</a:t>
            </a:r>
            <a:r>
              <a:rPr sz="3200" spc="8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with high</a:t>
            </a:r>
            <a:r>
              <a:rPr sz="3200" spc="-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precision for</a:t>
            </a:r>
            <a:r>
              <a:rPr sz="3200" spc="-4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commercial</a:t>
            </a:r>
            <a:r>
              <a:rPr sz="3200" spc="7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and</a:t>
            </a:r>
            <a:r>
              <a:rPr sz="320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social</a:t>
            </a:r>
            <a:r>
              <a:rPr sz="3200" spc="-1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bg1"/>
                </a:solidFill>
                <a:latin typeface="Calibri"/>
                <a:cs typeface="Calibri"/>
              </a:rPr>
              <a:t>applications.</a:t>
            </a:r>
            <a:endParaRPr sz="32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1650" y="1733617"/>
            <a:ext cx="15835400" cy="1018363"/>
          </a:xfrm>
          <a:prstGeom prst="rect">
            <a:avLst/>
          </a:prstGeom>
        </p:spPr>
        <p:txBody>
          <a:bodyPr vert="horz" wrap="square" lIns="0" tIns="147454" rIns="0" bIns="0" rtlCol="0">
            <a:spAutoFit/>
          </a:bodyPr>
          <a:lstStyle/>
          <a:p>
            <a:pPr marL="542290">
              <a:lnSpc>
                <a:spcPct val="100000"/>
              </a:lnSpc>
              <a:spcBef>
                <a:spcPts val="114"/>
              </a:spcBef>
            </a:pPr>
            <a:r>
              <a:rPr lang="en-US" sz="5650" dirty="0">
                <a:solidFill>
                  <a:schemeClr val="bg1"/>
                </a:solidFill>
                <a:latin typeface="Cambria"/>
                <a:cs typeface="Cambria"/>
              </a:rPr>
              <a:t>Questions</a:t>
            </a:r>
            <a:endParaRPr sz="5650" dirty="0">
              <a:solidFill>
                <a:schemeClr val="bg1"/>
              </a:solidFill>
              <a:latin typeface="Cambria"/>
              <a:cs typeface="Cambria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327F69-694E-468C-B8F9-8B5DA66D10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461250" y="4130675"/>
            <a:ext cx="3809999" cy="44201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132</TotalTime>
  <Words>439</Words>
  <Application>Microsoft Office PowerPoint</Application>
  <PresentationFormat>Custom</PresentationFormat>
  <Paragraphs>61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Gill Sans MT</vt:lpstr>
      <vt:lpstr>Inter</vt:lpstr>
      <vt:lpstr>Times New Roman</vt:lpstr>
      <vt:lpstr>Gallery</vt:lpstr>
      <vt:lpstr>Bangla  Sentiment Pro</vt:lpstr>
      <vt:lpstr>Problem Framing &amp; Motivation</vt:lpstr>
      <vt:lpstr>Technical Architecture</vt:lpstr>
      <vt:lpstr>1 The Core Engine: BanglaBERT</vt:lpstr>
      <vt:lpstr>Algorithm Understanding</vt:lpstr>
      <vt:lpstr>Evaluation &amp; Results</vt:lpstr>
      <vt:lpstr>Functional Interface Demo</vt:lpstr>
      <vt:lpstr>Impact &amp; Scalability</vt:lpstr>
      <vt:lpstr>Conclusion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Afrin Binte Amin</dc:creator>
  <cp:lastModifiedBy>MST. AFRIN BINTE AMIN</cp:lastModifiedBy>
  <cp:revision>4</cp:revision>
  <dcterms:created xsi:type="dcterms:W3CDTF">2026-05-03T15:50:50Z</dcterms:created>
  <dcterms:modified xsi:type="dcterms:W3CDTF">2026-05-04T08:28:36Z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2026-05-03T00:00:00Z</vt:filetime>
  </property>
  <property fmtid="{D5CDD505-2E9C-101B-9397-08002B2CF9AE}" pid="4" name="LastSaved">
    <vt:filetime>2026-05-03T00:00:00Z</vt:filetime>
  </property>
</Properties>
</file>